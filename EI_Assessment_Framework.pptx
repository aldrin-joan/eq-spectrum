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011680" cy="201168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-182880"/>
            <a:ext cx="1280160" cy="128016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329184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028090">
                    <a:alpha val="8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Emotional Intelligence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Framework for Workplace Effectiveness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HUM1002 — Emotional Intelligence  </a:t>
            </a:r>
            <a:pPr algn="l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 Challenging Task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02.04.2026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" y="4526280"/>
            <a:ext cx="155448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30552" y="4526280"/>
            <a:ext cx="155448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30552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Self-Regulation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4526280"/>
            <a:ext cx="155448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58968" y="4526280"/>
            <a:ext cx="155448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58968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23176" y="4526280"/>
            <a:ext cx="155448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23176" y="45262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5-Dimension EI Blueprint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measures a distinct layer of emotional competency at 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" y="1600200"/>
            <a:ext cx="1664208" cy="3200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1600200"/>
            <a:ext cx="1664208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70432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" y="22585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Self-Awareness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6032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your emotions, triggers, and their impact on decisions.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4434840"/>
            <a:ext cx="1481328" cy="256032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4434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5 Questions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56816" y="1600200"/>
            <a:ext cx="1664208" cy="3200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56816" y="1600200"/>
            <a:ext cx="1664208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02536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962656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048256" y="22585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Self-Regulation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48256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impulses, adapting to change, and staying composed under pressure.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48256" y="4434840"/>
            <a:ext cx="1481328" cy="256032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4434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5 Questions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49040" y="1600200"/>
            <a:ext cx="1664208" cy="3200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600200"/>
            <a:ext cx="1664208" cy="91440"/>
          </a:xfrm>
          <a:prstGeom prst="rect">
            <a:avLst/>
          </a:prstGeom>
          <a:solidFill>
            <a:srgbClr val="E2B35A"/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2B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54880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840480" y="22585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0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goals with resilience, optimism, and internal drive.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0" y="4434840"/>
            <a:ext cx="1481328" cy="256032"/>
          </a:xfrm>
          <a:prstGeom prst="rect">
            <a:avLst/>
          </a:prstGeom>
          <a:solidFill>
            <a:srgbClr val="E2B35A">
              <a:alpha val="20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434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2B35A"/>
                </a:solidFill>
              </a:rPr>
              <a:t>5 Questions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41264" y="1600200"/>
            <a:ext cx="1664208" cy="3200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41264" y="1600200"/>
            <a:ext cx="1664208" cy="914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86984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4B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547104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32704" y="22585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632704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Perceiving and valuing others' emotional states and perspectives.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32704" y="4434840"/>
            <a:ext cx="1481328" cy="256032"/>
          </a:xfrm>
          <a:prstGeom prst="rect">
            <a:avLst/>
          </a:prstGeom>
          <a:solidFill>
            <a:srgbClr val="84B59F">
              <a:alpha val="20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32704" y="4434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4B59F"/>
                </a:solidFill>
              </a:rPr>
              <a:t>5 Questions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33488" y="1600200"/>
            <a:ext cx="1664208" cy="32004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33488" y="1600200"/>
            <a:ext cx="1664208" cy="91440"/>
          </a:xfrm>
          <a:prstGeom prst="rect">
            <a:avLst/>
          </a:prstGeom>
          <a:solidFill>
            <a:srgbClr val="6D87A8"/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D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339328" y="173736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424928" y="22585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Skills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424928" y="2743200"/>
            <a:ext cx="14813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relationships, influencing others, and collaborating effectively.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24928" y="4434840"/>
            <a:ext cx="1481328" cy="256032"/>
          </a:xfrm>
          <a:prstGeom prst="rect">
            <a:avLst/>
          </a:prstGeom>
          <a:solidFill>
            <a:srgbClr val="6D87A8">
              <a:alpha val="20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24928" y="4434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87A8"/>
                </a:solidFill>
              </a:rPr>
              <a:t>5 Questions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QUESTIONS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Questionnaire: Part 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(SA) &amp; Self-Regulation (SR)  —  5 statements each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69080" cy="34290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3429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SELF-AWARENESS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92608" cy="23774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SA1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8952" y="19202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feel frustrated during a deadline crunch, I can name the exact emotion before reacting.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96312"/>
            <a:ext cx="292608" cy="23774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SA2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8952" y="24963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regularly notice when my mood is affecting the quality of my work output.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292608" cy="23774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72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SA3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8952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heated meeting, I can trace back the specific moment my emotions shifted.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648456"/>
            <a:ext cx="292608" cy="23774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484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SA4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8952" y="36484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aware of the personal values that drive my professional decisions.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292608" cy="23774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24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SA5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" y="42245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acknowledge my limitations honestly rather than attributing failures to external factors.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463040"/>
            <a:ext cx="4069080" cy="34290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46304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SELF-REGULATION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1920240"/>
            <a:ext cx="292608" cy="237744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9202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SR1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85232" y="19202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project plan collapses unexpectedly, I pivot calmly rather than shutting down.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496312"/>
            <a:ext cx="292608" cy="237744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963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SR2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85232" y="24963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consciously pause before responding to criticism from a colleague or supervisor.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072384"/>
            <a:ext cx="292608" cy="237744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072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SR3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85232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maintain professional conduct even in team situations I find personally unfair.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3648456"/>
            <a:ext cx="292608" cy="237744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6484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SR4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85232" y="36484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set aside a personal conflict to complete a shared work task effectively.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4224528"/>
            <a:ext cx="292608" cy="237744"/>
          </a:xfrm>
          <a:prstGeom prst="rect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24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C39A"/>
                </a:solidFill>
              </a:rPr>
              <a:t>SR5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85232" y="42245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hold myself accountable for my mistakes without excessive guilt or defensiveness.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QUESTIONS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Questionnaire: Part 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(MO) &amp; Empathy (EM)  —  5 statements each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069080" cy="34290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3429000"/>
          </a:xfrm>
          <a:prstGeom prst="rect">
            <a:avLst/>
          </a:prstGeom>
          <a:solidFill>
            <a:srgbClr val="E2B35A"/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B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20240"/>
            <a:ext cx="292608" cy="237744"/>
          </a:xfrm>
          <a:prstGeom prst="rect">
            <a:avLst/>
          </a:prstGeom>
          <a:solidFill>
            <a:srgbClr val="E2B35A">
              <a:alpha val="25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202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B35A"/>
                </a:solidFill>
              </a:rPr>
              <a:t>MO1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58952" y="19202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pursue challenging tasks even when success is uncertain, driven by curiosity rather than reward.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96312"/>
            <a:ext cx="292608" cy="237744"/>
          </a:xfrm>
          <a:prstGeom prst="rect">
            <a:avLst/>
          </a:prstGeom>
          <a:solidFill>
            <a:srgbClr val="E2B35A">
              <a:alpha val="25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963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B35A"/>
                </a:solidFill>
              </a:rPr>
              <a:t>MO2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8952" y="24963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or failure sharpens my resolve to improve rather than causing me to disengage.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72384"/>
            <a:ext cx="292608" cy="237744"/>
          </a:xfrm>
          <a:prstGeom prst="rect">
            <a:avLst/>
          </a:prstGeom>
          <a:solidFill>
            <a:srgbClr val="E2B35A">
              <a:alpha val="25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72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B35A"/>
                </a:solidFill>
              </a:rPr>
              <a:t>MO3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58952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find meaning in routine work by connecting it to a larger professional purpose.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648456"/>
            <a:ext cx="292608" cy="237744"/>
          </a:xfrm>
          <a:prstGeom prst="rect">
            <a:avLst/>
          </a:prstGeom>
          <a:solidFill>
            <a:srgbClr val="E2B35A">
              <a:alpha val="25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6484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B35A"/>
                </a:solidFill>
              </a:rPr>
              <a:t>MO4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58952" y="36484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set ambitious personal benchmarks beyond what my role formally requires.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24528"/>
            <a:ext cx="292608" cy="237744"/>
          </a:xfrm>
          <a:prstGeom prst="rect">
            <a:avLst/>
          </a:prstGeom>
          <a:solidFill>
            <a:srgbClr val="E2B35A">
              <a:alpha val="25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24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2B35A"/>
                </a:solidFill>
              </a:rPr>
              <a:t>MO5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58952" y="42245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continue pursuing team goals with enthusiasm even when recognition is absent.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463040"/>
            <a:ext cx="4069080" cy="34290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1463040"/>
            <a:ext cx="64008" cy="34290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4B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EMPATHY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1920240"/>
            <a:ext cx="292608" cy="237744"/>
          </a:xfrm>
          <a:prstGeom prst="rect">
            <a:avLst/>
          </a:prstGeom>
          <a:solidFill>
            <a:srgbClr val="84B59F">
              <a:alpha val="2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9202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B59F"/>
                </a:solidFill>
              </a:rPr>
              <a:t>EM1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85232" y="1920240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notice when a colleague's non-verbal cues contradict what they're saying verbally.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7760" y="2496312"/>
            <a:ext cx="292608" cy="237744"/>
          </a:xfrm>
          <a:prstGeom prst="rect">
            <a:avLst/>
          </a:prstGeom>
          <a:solidFill>
            <a:srgbClr val="84B59F">
              <a:alpha val="2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496312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B59F"/>
                </a:solidFill>
              </a:rPr>
              <a:t>EM2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85232" y="249631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adjust how I deliver feedback based on the emotional state of the recipient.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072384"/>
            <a:ext cx="292608" cy="237744"/>
          </a:xfrm>
          <a:prstGeom prst="rect">
            <a:avLst/>
          </a:prstGeom>
          <a:solidFill>
            <a:srgbClr val="84B59F">
              <a:alpha val="2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072384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B59F"/>
                </a:solidFill>
              </a:rPr>
              <a:t>EM3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85232" y="3072384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genuinely invest in understanding a peer's viewpoint before forming my own response.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3648456"/>
            <a:ext cx="292608" cy="237744"/>
          </a:xfrm>
          <a:prstGeom prst="rect">
            <a:avLst/>
          </a:prstGeom>
          <a:solidFill>
            <a:srgbClr val="84B59F">
              <a:alpha val="2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64845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B59F"/>
                </a:solidFill>
              </a:rPr>
              <a:t>EM4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85232" y="3648456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on my team struggles, I prioritise their wellbeing over task completion.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37760" y="4224528"/>
            <a:ext cx="292608" cy="237744"/>
          </a:xfrm>
          <a:prstGeom prst="rect">
            <a:avLst/>
          </a:prstGeom>
          <a:solidFill>
            <a:srgbClr val="84B59F">
              <a:alpha val="25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224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B59F"/>
                </a:solidFill>
              </a:rPr>
              <a:t>EM5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285232" y="4224528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mindful of how cultural or personal backgrounds shape my colleagues' reactions.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QUESTIONS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Questionnaire: Part 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Skills (SS)  —  5 statements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34290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44752"/>
            <a:ext cx="64008" cy="3429000"/>
          </a:xfrm>
          <a:prstGeom prst="rect">
            <a:avLst/>
          </a:prstGeom>
          <a:solidFill>
            <a:srgbClr val="6D87A8"/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8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SKILLS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" y="1965960"/>
            <a:ext cx="292608" cy="237744"/>
          </a:xfrm>
          <a:prstGeom prst="rect">
            <a:avLst/>
          </a:prstGeom>
          <a:solidFill>
            <a:srgbClr val="6D87A8">
              <a:alpha val="25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965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87A8"/>
                </a:solidFill>
              </a:rPr>
              <a:t>SS1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22960" y="1965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de-escalate a tense team disagreement by reframing the conversation around shared goals.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18304" y="1965960"/>
            <a:ext cx="292608" cy="237744"/>
          </a:xfrm>
          <a:prstGeom prst="rect">
            <a:avLst/>
          </a:prstGeom>
          <a:solidFill>
            <a:srgbClr val="6D87A8">
              <a:alpha val="25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965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87A8"/>
                </a:solidFill>
              </a:rPr>
              <a:t>SS2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74920" y="196596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tailor my communication style (tone, vocabulary, detail level) based on my audience's needs.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" y="2834640"/>
            <a:ext cx="292608" cy="237744"/>
          </a:xfrm>
          <a:prstGeom prst="rect">
            <a:avLst/>
          </a:prstGeom>
          <a:solidFill>
            <a:srgbClr val="6D87A8">
              <a:alpha val="25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8346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87A8"/>
                </a:solidFill>
              </a:rPr>
              <a:t>SS3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proactively build relationships with colleagues outside my immediate team or department.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18304" y="2834640"/>
            <a:ext cx="292608" cy="237744"/>
          </a:xfrm>
          <a:prstGeom prst="rect">
            <a:avLst/>
          </a:prstGeom>
          <a:solidFill>
            <a:srgbClr val="6D87A8">
              <a:alpha val="25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283464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87A8"/>
                </a:solidFill>
              </a:rPr>
              <a:t>SS4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074920" y="28346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leading a group, I create space for quieter voices without diminishing confident speakers.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" y="3703320"/>
            <a:ext cx="292608" cy="237744"/>
          </a:xfrm>
          <a:prstGeom prst="rect">
            <a:avLst/>
          </a:prstGeom>
          <a:solidFill>
            <a:srgbClr val="6D87A8">
              <a:alpha val="25000"/>
            </a:srgbClr>
          </a:solidFill>
          <a:ln w="12700">
            <a:solidFill>
              <a:srgbClr val="6D87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70332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87A8"/>
                </a:solidFill>
              </a:rPr>
              <a:t>SS5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22960" y="3703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use persuasion grounded in shared values rather than authority or pressure to gain buy-in.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Strongly Disagree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66544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= Disagree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7328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= Neutral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68112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= Agree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68896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= Strongly Agree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EFFECTIVENESS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Workplace Effectiveness Linkage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additional questions linking EI to Performance · Teamwork · Leadership · Conflict Resolution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251960" cy="12344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64008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" y="1828800"/>
            <a:ext cx="274320" cy="201168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WE1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77240" y="1810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emotional state on any given day rarely compromises the quality of my deliverables.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157984"/>
            <a:ext cx="274320" cy="201168"/>
          </a:xfrm>
          <a:prstGeom prst="rect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57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8090"/>
                </a:solidFill>
              </a:rPr>
              <a:t>WE2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" y="2139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proactively seek feedback on my performance even when I suspect the response will be critical.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463040"/>
            <a:ext cx="4251960" cy="1298448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63040"/>
            <a:ext cx="64008" cy="1298448"/>
          </a:xfrm>
          <a:prstGeom prst="rect">
            <a:avLst/>
          </a:prstGeom>
          <a:solidFill>
            <a:srgbClr val="E2B35A"/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B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19472" y="1828800"/>
            <a:ext cx="274320" cy="201168"/>
          </a:xfrm>
          <a:prstGeom prst="rect">
            <a:avLst/>
          </a:prstGeom>
          <a:solidFill>
            <a:srgbClr val="E2B35A">
              <a:alpha val="22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B35A"/>
                </a:solidFill>
              </a:rPr>
              <a:t>WE5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57800" y="1810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guiding a team through ambiguity, I communicate with calm confidence rather than false certainty.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19472" y="2157984"/>
            <a:ext cx="274320" cy="201168"/>
          </a:xfrm>
          <a:prstGeom prst="rect">
            <a:avLst/>
          </a:prstGeom>
          <a:solidFill>
            <a:srgbClr val="E2B35A">
              <a:alpha val="22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157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B35A"/>
                </a:solidFill>
              </a:rPr>
              <a:t>WE6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257800" y="21396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inspire commitment from colleagues by linking daily tasks to a meaningful collective vision.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19472" y="2487168"/>
            <a:ext cx="274320" cy="201168"/>
          </a:xfrm>
          <a:prstGeom prst="rect">
            <a:avLst/>
          </a:prstGeom>
          <a:solidFill>
            <a:srgbClr val="E2B35A">
              <a:alpha val="22000"/>
            </a:srgbClr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487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2B35A"/>
                </a:solidFill>
              </a:rPr>
              <a:t>WE7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257800" y="24688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adapt my leadership style based on a team member's emotional readiness, not just their skill level.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4251960" cy="12344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26080"/>
            <a:ext cx="6400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TEAMWORK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3291840"/>
            <a:ext cx="274320" cy="201168"/>
          </a:xfrm>
          <a:prstGeom prst="rect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291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C39A"/>
                </a:solidFill>
              </a:rPr>
              <a:t>WE3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7240" y="3273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contribute to a psychologically safe team climate by modelling vulnerability and transparency.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3621024"/>
            <a:ext cx="274320" cy="201168"/>
          </a:xfrm>
          <a:prstGeom prst="rect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621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2C39A"/>
                </a:solidFill>
              </a:rPr>
              <a:t>WE4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77240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recognise and vocally appreciate teammates whose contributions are often overlooked.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4251960" cy="1298448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926080"/>
            <a:ext cx="64008" cy="129844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4B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 RESOLUTION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9472" y="3291840"/>
            <a:ext cx="274320" cy="201168"/>
          </a:xfrm>
          <a:prstGeom prst="rect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291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4B59F"/>
                </a:solidFill>
              </a:rPr>
              <a:t>WE8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57800" y="3273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disagreement, I address the underlying interest rather than arguing over stated positions.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9472" y="3621024"/>
            <a:ext cx="274320" cy="201168"/>
          </a:xfrm>
          <a:prstGeom prst="rect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362102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4B59F"/>
                </a:solidFill>
              </a:rPr>
              <a:t>WE9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257800" y="36027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choose the right moment — not just the right words — when raising a sensitive workplace issue.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19472" y="3950208"/>
            <a:ext cx="274320" cy="201168"/>
          </a:xfrm>
          <a:prstGeom prst="rect">
            <a:avLst/>
          </a:prstGeom>
          <a:solidFill>
            <a:srgbClr val="84B59F">
              <a:alpha val="22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95020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4B59F"/>
                </a:solidFill>
              </a:rPr>
              <a:t>WE10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257800" y="39319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resolved conflict, I invest effort in repairing the relationship rather than just the task.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SCORING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Methodology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1480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3657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Scores Are Calculated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92224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922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5568" y="175564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35 statements is rated on a 1–5 Likert scale.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860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5568" y="2249424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core EI statements → max 125 points (5 dimensions × 5 Qs × 5).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797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" y="2743200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effectiveness statements → max 50 points.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" y="3236976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Maximum Score = 175 points.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6732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" y="3730752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sub-scores calculated separately for targeted insight.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261104"/>
            <a:ext cx="594360" cy="237744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611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Step 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5568" y="422452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EI = (Raw Score ÷ 175) × 100.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1234440"/>
            <a:ext cx="4206240" cy="365760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234440"/>
            <a:ext cx="64008" cy="3657600"/>
          </a:xfrm>
          <a:prstGeom prst="rect">
            <a:avLst/>
          </a:prstGeom>
          <a:solidFill>
            <a:srgbClr val="E2B35A"/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B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 Bands: Interpreting Total Score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840480" cy="868680"/>
          </a:xfrm>
          <a:prstGeom prst="rect">
            <a:avLst/>
          </a:prstGeom>
          <a:solidFill>
            <a:srgbClr val="4A627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783080"/>
            <a:ext cx="6400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EI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1828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140–175  (80–100%)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74336" y="21122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strong emotional competency across all dimensions. Likely to excel in leadership, collaboration, and conflict resolution.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46320" y="2788920"/>
            <a:ext cx="3840480" cy="868680"/>
          </a:xfrm>
          <a:prstGeom prst="rect">
            <a:avLst/>
          </a:prstGeom>
          <a:solidFill>
            <a:srgbClr val="4A6278"/>
          </a:solidFill>
          <a:ln w="12700">
            <a:solidFill>
              <a:srgbClr val="E09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88920"/>
            <a:ext cx="64008" cy="868680"/>
          </a:xfrm>
          <a:prstGeom prst="rect">
            <a:avLst/>
          </a:prstGeom>
          <a:solidFill>
            <a:srgbClr val="E09A2B"/>
          </a:solidFill>
          <a:ln w="12700">
            <a:solidFill>
              <a:srgbClr val="E09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834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9A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EI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2834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88–139  (50–79%)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74336" y="311810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reliable EI in familiar contexts. Targeted development in lower-scoring dimensions will accelerate effectiveness.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3794760"/>
            <a:ext cx="3840480" cy="868680"/>
          </a:xfrm>
          <a:prstGeom prst="rect">
            <a:avLst/>
          </a:prstGeom>
          <a:solidFill>
            <a:srgbClr val="4A6278"/>
          </a:solidFill>
          <a:ln w="12700">
            <a:solidFill>
              <a:srgbClr val="E05C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794760"/>
            <a:ext cx="64008" cy="8686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3840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EI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35–87  (below 50%)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74336" y="41239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gaps in emotional competency. Structured EI coaching, mentoring, or training interventions are recommended.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INTERPRETATION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Results Are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88920" cy="356616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2788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HR Decisions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candidates during hiring using EI profile alongside technical skills.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80720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high-potential employees for managerial or cross-functional roles.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6758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dimension sub-scores to match individuals to team roles where their EI strengths are most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88920" cy="356616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88920" cy="73152"/>
          </a:xfrm>
          <a:prstGeom prst="rect">
            <a:avLst/>
          </a:prstGeom>
          <a:solidFill>
            <a:srgbClr val="E2B35A"/>
          </a:solidFill>
          <a:ln w="12700">
            <a:solidFill>
              <a:srgbClr val="E2B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67912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B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&amp; Development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93852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targeted workshops for low-scoring dimensions (e.g., Empathy clinics, Regulation coaching).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280720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EI growth over time using repeat assessments every 6 months.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36758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team-level EI maps to identify collective blind spots and tailor team interventions.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788920" cy="356616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280160"/>
            <a:ext cx="2788920" cy="73152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9712" y="14630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B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Self-Improvement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55080" y="193852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receive personalised EI radar reports across all 5 dimensions.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280720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prompts are tied to lowest-scoring statements for journaling or mentoring conversations.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367588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Effectiveness section reveals how EI gaps directly impact real work outcomes, making growth tangible.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681728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is not a fixed trait — it is a learnable set of skills. This framework empowers individuals and organisations to grow with intention.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RATING SCALE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5-Point Likert Scale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is rated on this scale. Consistency across all 35 items ensures scoring reliability.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627632" cy="32918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1627632" cy="82296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74320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487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301752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behaviour is not characteristic of me at all in workplace settings.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011680" y="1554480"/>
            <a:ext cx="1627632" cy="32918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554480"/>
            <a:ext cx="1627632" cy="822960"/>
          </a:xfrm>
          <a:prstGeom prst="rect">
            <a:avLst/>
          </a:prstGeom>
          <a:solidFill>
            <a:srgbClr val="E0742B"/>
          </a:solidFill>
          <a:ln w="12700">
            <a:solidFill>
              <a:srgbClr val="E074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57276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011680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2487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4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Disagree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84832" y="301752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rarely demonstrate this behaviour; it does not reflect my general approach.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3749040" y="1554480"/>
            <a:ext cx="1627632" cy="32918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554480"/>
            <a:ext cx="1627632" cy="822960"/>
          </a:xfrm>
          <a:prstGeom prst="rect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57276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749040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▷◁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22192" y="2487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B8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Neutral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22192" y="301752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behaviour sometimes applies to me depending on the context or situation.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86400" y="1554480"/>
            <a:ext cx="1627632" cy="32918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554480"/>
            <a:ext cx="1627632" cy="8229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57276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5486400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▷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59552" y="2487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4B5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9552" y="301752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frequently exhibit this behaviour as part of my normal professional conduct.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223760" y="1554480"/>
            <a:ext cx="1627632" cy="3291840"/>
          </a:xfrm>
          <a:prstGeom prst="rect">
            <a:avLst/>
          </a:prstGeom>
          <a:solidFill>
            <a:srgbClr val="1B2D45"/>
          </a:solidFill>
          <a:ln w="12700">
            <a:solidFill>
              <a:srgbClr val="1B2D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554480"/>
            <a:ext cx="1627632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572768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223760" y="21214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96912" y="248716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Agree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96912" y="3017520"/>
            <a:ext cx="1481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behaviour consistently and accurately reflects who I am in the workplace.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57200" y="4846320"/>
            <a:ext cx="8229600" cy="109728"/>
          </a:xfrm>
          <a:prstGeom prst="rect">
            <a:avLst/>
          </a:prstGeom>
          <a:solidFill>
            <a:srgbClr val="4A6278"/>
          </a:solidFill>
          <a:ln w="12700">
            <a:solidFill>
              <a:srgbClr val="4A62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791456"/>
            <a:ext cx="219456" cy="219456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4791456"/>
            <a:ext cx="219456" cy="219456"/>
          </a:xfrm>
          <a:prstGeom prst="ellipse">
            <a:avLst/>
          </a:prstGeom>
          <a:solidFill>
            <a:srgbClr val="E0742B"/>
          </a:solidFill>
          <a:ln w="12700">
            <a:solidFill>
              <a:srgbClr val="E074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97680" y="4791456"/>
            <a:ext cx="219456" cy="219456"/>
          </a:xfrm>
          <a:prstGeom prst="ellipse">
            <a:avLst/>
          </a:prstGeom>
          <a:solidFill>
            <a:srgbClr val="A8B8C8"/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791456"/>
            <a:ext cx="219456" cy="219456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4791456"/>
            <a:ext cx="219456" cy="21945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EI →→→→→→→→→→→→→→→→→→→→→→→→→→→→→ High EI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1828800" cy="1828800"/>
          </a:xfrm>
          <a:prstGeom prst="ellipse">
            <a:avLst/>
          </a:prstGeom>
          <a:solidFill>
            <a:srgbClr val="E2B35A">
              <a:alpha val="15000"/>
            </a:srgbClr>
          </a:solidFill>
          <a:ln w="12700">
            <a:solidFill>
              <a:srgbClr val="E2B35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365760" y="2029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Emotionally Intelligent Workplaces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606040"/>
            <a:ext cx="4572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Questions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42032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542032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Dimensions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18304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175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718304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94576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894576" y="3566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Bands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HUM1002 — Emotional Intelligence  |  Group Challenging Task  |  Submitted: 02.04.2026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Workplace Assessment Framework</dc:title>
  <dc:subject>PptxGenJS Presentation</dc:subject>
  <dc:creator>PptxGenJS</dc:creator>
  <cp:lastModifiedBy>PptxGenJS</cp:lastModifiedBy>
  <cp:revision>1</cp:revision>
  <dcterms:created xsi:type="dcterms:W3CDTF">2026-04-02T11:14:49Z</dcterms:created>
  <dcterms:modified xsi:type="dcterms:W3CDTF">2026-04-02T11:14:49Z</dcterms:modified>
</cp:coreProperties>
</file>